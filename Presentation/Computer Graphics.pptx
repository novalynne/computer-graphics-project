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ooper Hewitt" panose="020B0604020202020204" charset="0"/>
      <p:regular r:id="rId21"/>
    </p:embeddedFont>
    <p:embeddedFont>
      <p:font typeface="Cooper Hewitt Bold" panose="020B0604020202020204" charset="0"/>
      <p:regular r:id="rId22"/>
    </p:embeddedFont>
    <p:embeddedFont>
      <p:font typeface="DM Sans" pitchFamily="2" charset="0"/>
      <p:regular r:id="rId23"/>
      <p:bold r:id="rId24"/>
    </p:embeddedFont>
    <p:embeddedFont>
      <p:font typeface="DM Sans Bold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81CA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kfb.ly/6YEp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2887" y="-4247682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0235817" y="3174923"/>
            <a:ext cx="7513564" cy="5149279"/>
            <a:chOff x="0" y="0"/>
            <a:chExt cx="10018086" cy="6865705"/>
          </a:xfrm>
        </p:grpSpPr>
        <p:sp>
          <p:nvSpPr>
            <p:cNvPr id="4" name="Freeform 4"/>
            <p:cNvSpPr/>
            <p:nvPr/>
          </p:nvSpPr>
          <p:spPr>
            <a:xfrm>
              <a:off x="2262499" y="0"/>
              <a:ext cx="4752223" cy="6064321"/>
            </a:xfrm>
            <a:custGeom>
              <a:avLst/>
              <a:gdLst/>
              <a:ahLst/>
              <a:cxnLst/>
              <a:rect l="l" t="t" r="r" b="b"/>
              <a:pathLst>
                <a:path w="4752223" h="6064321">
                  <a:moveTo>
                    <a:pt x="0" y="0"/>
                  </a:moveTo>
                  <a:lnTo>
                    <a:pt x="4752222" y="0"/>
                  </a:lnTo>
                  <a:lnTo>
                    <a:pt x="4752222" y="6064321"/>
                  </a:lnTo>
                  <a:lnTo>
                    <a:pt x="0" y="6064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3793195"/>
              <a:ext cx="4773674" cy="3072510"/>
            </a:xfrm>
            <a:custGeom>
              <a:avLst/>
              <a:gdLst/>
              <a:ahLst/>
              <a:cxnLst/>
              <a:rect l="l" t="t" r="r" b="b"/>
              <a:pathLst>
                <a:path w="4773674" h="3072510">
                  <a:moveTo>
                    <a:pt x="0" y="0"/>
                  </a:moveTo>
                  <a:lnTo>
                    <a:pt x="4773674" y="0"/>
                  </a:lnTo>
                  <a:lnTo>
                    <a:pt x="4773674" y="3072510"/>
                  </a:lnTo>
                  <a:lnTo>
                    <a:pt x="0" y="3072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17830" y="1595768"/>
              <a:ext cx="3700255" cy="5062539"/>
            </a:xfrm>
            <a:custGeom>
              <a:avLst/>
              <a:gdLst/>
              <a:ahLst/>
              <a:cxnLst/>
              <a:rect l="l" t="t" r="r" b="b"/>
              <a:pathLst>
                <a:path w="3700255" h="5062539">
                  <a:moveTo>
                    <a:pt x="0" y="0"/>
                  </a:moveTo>
                  <a:lnTo>
                    <a:pt x="3700256" y="0"/>
                  </a:lnTo>
                  <a:lnTo>
                    <a:pt x="3700256" y="5062539"/>
                  </a:lnTo>
                  <a:lnTo>
                    <a:pt x="0" y="5062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013229"/>
            <a:ext cx="9904619" cy="239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18"/>
              </a:lnSpc>
            </a:pPr>
            <a:r>
              <a:rPr lang="en-US" sz="12013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SHADOWMAP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773222"/>
            <a:ext cx="13242753" cy="14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0"/>
              </a:lnSpc>
            </a:pPr>
            <a:r>
              <a:rPr lang="en-US" sz="7064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COMPUTER GRAPHICS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74692" y="6136835"/>
            <a:ext cx="8439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 this project we implement, within a simple 3D scene, the </a:t>
            </a:r>
            <a:r>
              <a:rPr lang="en-US" sz="20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Shadow Mapping </a:t>
            </a:r>
            <a:r>
              <a:rPr lang="en-US" sz="20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technique for generating shadows.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2121846" y="3192152"/>
            <a:ext cx="5137454" cy="2151309"/>
          </a:xfrm>
          <a:custGeom>
            <a:avLst/>
            <a:gdLst/>
            <a:ahLst/>
            <a:cxnLst/>
            <a:rect l="l" t="t" r="r" b="b"/>
            <a:pathLst>
              <a:path w="5137454" h="2151309">
                <a:moveTo>
                  <a:pt x="0" y="0"/>
                </a:moveTo>
                <a:lnTo>
                  <a:pt x="5137454" y="0"/>
                </a:lnTo>
                <a:lnTo>
                  <a:pt x="5137454" y="2151308"/>
                </a:lnTo>
                <a:lnTo>
                  <a:pt x="0" y="215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3070200" y="5800865"/>
            <a:ext cx="3006417" cy="3343135"/>
          </a:xfrm>
          <a:custGeom>
            <a:avLst/>
            <a:gdLst/>
            <a:ahLst/>
            <a:cxnLst/>
            <a:rect l="l" t="t" r="r" b="b"/>
            <a:pathLst>
              <a:path w="3006417" h="3343135">
                <a:moveTo>
                  <a:pt x="0" y="0"/>
                </a:moveTo>
                <a:lnTo>
                  <a:pt x="3006417" y="0"/>
                </a:lnTo>
                <a:lnTo>
                  <a:pt x="3006417" y="3343135"/>
                </a:lnTo>
                <a:lnTo>
                  <a:pt x="0" y="33431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028700" y="3058132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457700"/>
            <a:ext cx="10141716" cy="501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This project implements the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Shadow Mapping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technique for real-time shadow generation in a 3D scene developed with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WebGL and Three.js.</a:t>
            </a:r>
          </a:p>
          <a:p>
            <a:pPr algn="just">
              <a:lnSpc>
                <a:spcPts val="2799"/>
              </a:lnSpc>
            </a:pPr>
            <a:endParaRPr lang="en-US" sz="1999" b="1" dirty="0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scene consists of an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isometric room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containing two different light sources: a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Directional Light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and a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Point Light.</a:t>
            </a:r>
          </a:p>
          <a:p>
            <a:pPr algn="just">
              <a:lnSpc>
                <a:spcPts val="2799"/>
              </a:lnSpc>
            </a:pPr>
            <a:endParaRPr lang="en-US" sz="1999" b="1" dirty="0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 addition to traditional Shadow Mapping (Basic Shadow Mapping), the project allows you to compare different algorithms, including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Percentage Closer Filtering (PCF)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Variance Shadow Mapping (VSM)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From the UI, you can also modify parameters such as light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bias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selectively activate or deactivate lights, graphic helpers, and finally display the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shadow depth map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using a toggle.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2739" y="-4483342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2495183"/>
            <a:ext cx="6577188" cy="227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TECHNOLOGIES </a:t>
            </a: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&amp;</a:t>
            </a: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RISOURCE </a:t>
            </a: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36441" y="5031393"/>
            <a:ext cx="5561706" cy="2599403"/>
            <a:chOff x="0" y="0"/>
            <a:chExt cx="7415608" cy="3465870"/>
          </a:xfrm>
        </p:grpSpPr>
        <p:sp>
          <p:nvSpPr>
            <p:cNvPr id="6" name="TextBox 6"/>
            <p:cNvSpPr txBox="1"/>
            <p:nvPr/>
          </p:nvSpPr>
          <p:spPr>
            <a:xfrm>
              <a:off x="0" y="747223"/>
              <a:ext cx="7415608" cy="2718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WebGL - 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JavaScript graphic API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Three.js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- 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graphic library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JavaScript - 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code language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Vite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- 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server build tool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WebStorm - 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IDE</a:t>
              </a:r>
            </a:p>
            <a:p>
              <a:pPr algn="just">
                <a:lnSpc>
                  <a:spcPts val="2380"/>
                </a:lnSpc>
              </a:pPr>
              <a:endPara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415608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A067A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SOFTWARE AND FRAMEWORK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36441" y="7786657"/>
            <a:ext cx="5561706" cy="1243043"/>
            <a:chOff x="0" y="0"/>
            <a:chExt cx="7415608" cy="165739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47223"/>
              <a:ext cx="7415608" cy="910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799" lvl="1" indent="-215899" algn="l">
                <a:lnSpc>
                  <a:spcPts val="2799"/>
                </a:lnSpc>
                <a:buFont typeface="Arial"/>
                <a:buChar char="•"/>
              </a:pP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Isometric Room -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1999" u="sng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  <a:hlinkClick r:id="rId4" tooltip="https://skfb.ly/6YEpW"/>
                </a:rPr>
                <a:t>https://skfb.ly/6YEpW</a:t>
              </a:r>
            </a:p>
            <a:p>
              <a:pPr marL="431799" lvl="1" indent="-215899" algn="l">
                <a:lnSpc>
                  <a:spcPts val="2799"/>
                </a:lnSpc>
                <a:buFont typeface="Arial"/>
                <a:buChar char="•"/>
              </a:pPr>
              <a:r>
                <a:rPr lang="en-US" sz="1999" b="1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Cube - </a:t>
              </a: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created from code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415608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A067A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3D MODELS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26777" y="3030666"/>
            <a:ext cx="8920299" cy="5247538"/>
            <a:chOff x="0" y="-47625"/>
            <a:chExt cx="11893732" cy="699671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747223"/>
              <a:ext cx="11893732" cy="6201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Directional Light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Point Light</a:t>
              </a:r>
            </a:p>
            <a:p>
              <a:pPr algn="just">
                <a:lnSpc>
                  <a:spcPts val="2799"/>
                </a:lnSpc>
              </a:pPr>
              <a:endPara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dirty="0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Interactively change the </a:t>
              </a: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position of lights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dirty="0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Visualization of the </a:t>
              </a: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lights helpers.</a:t>
              </a:r>
            </a:p>
            <a:p>
              <a:pPr algn="just">
                <a:lnSpc>
                  <a:spcPts val="2799"/>
                </a:lnSpc>
              </a:pPr>
              <a:endPara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dirty="0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Adjust the </a:t>
              </a: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bias</a:t>
              </a:r>
              <a:endPara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dirty="0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Visualization of the </a:t>
              </a: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shadow map (depth texture)</a:t>
              </a:r>
            </a:p>
            <a:p>
              <a:pPr algn="just">
                <a:lnSpc>
                  <a:spcPts val="2799"/>
                </a:lnSpc>
              </a:pPr>
              <a:endPara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Basic Shadow Map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PCF Shadow Map</a:t>
              </a:r>
            </a:p>
            <a:p>
              <a:pPr marL="431799" lvl="1" indent="-215899" algn="just">
                <a:lnSpc>
                  <a:spcPts val="2799"/>
                </a:lnSpc>
                <a:buFont typeface="Arial"/>
                <a:buChar char="•"/>
              </a:pPr>
              <a:r>
                <a:rPr lang="en-US" sz="1999" b="1" dirty="0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VSM Shadow Map</a:t>
              </a:r>
            </a:p>
            <a:p>
              <a:pPr algn="just">
                <a:lnSpc>
                  <a:spcPts val="2799"/>
                </a:lnSpc>
              </a:pPr>
              <a:endPara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189373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A067A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IMPLEMENTED FUNCTIONALITIES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309352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40357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5075" y="4627533"/>
            <a:ext cx="8574842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Thanks to the three.js library the implementation of the </a:t>
            </a:r>
            <a:r>
              <a:rPr lang="en-US" sz="19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shadowmap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techniques is fairy simple.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5075" y="329338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IMPLEMENTATION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5075" y="5600700"/>
            <a:ext cx="10393209" cy="3574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Each JavaScript file is responsible for a specific part of the application: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lights.js –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defines and configures the lights in the scene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models.js –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loads the room model using </a:t>
            </a:r>
            <a:r>
              <a:rPr lang="en-US" sz="1999" b="1" dirty="0" err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GLTFLoader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and creates the cube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scene.js –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initializes the renderer and the main scene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state.js –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contains all UI-related state variables used across the application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ui.js –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handles the creation and management of the user interface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shaders.js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– </a:t>
            </a:r>
            <a:r>
              <a:rPr lang="en-US" sz="1999" dirty="0">
                <a:solidFill>
                  <a:srgbClr val="343434"/>
                </a:solidFill>
                <a:latin typeface="DM Sans" pitchFamily="2" charset="0"/>
                <a:ea typeface="DM Sans Bold"/>
                <a:cs typeface="DM Sans Bold"/>
                <a:sym typeface="DM Sans Bold"/>
              </a:rPr>
              <a:t>sets all the needed shaders for the shadow mapping</a:t>
            </a:r>
            <a:endParaRPr lang="en-US" sz="1999" dirty="0">
              <a:solidFill>
                <a:srgbClr val="343434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main.js –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core file that connects all components together and sets up the </a:t>
            </a:r>
            <a:r>
              <a:rPr lang="en-US" sz="1999" b="1" dirty="0" err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OrbitControls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render loop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3024EC8-4332-1809-9186-BA0FF8874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2859" y="2378871"/>
            <a:ext cx="3740704" cy="360770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BFE72F46-C77E-3D1D-320C-AB97605AA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6800" y="6206692"/>
            <a:ext cx="3956321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3549" y="1623010"/>
            <a:ext cx="8005654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FULL PROJECT VISUAL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22AE858-6E62-6DFA-36BD-A718FFCDC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202" y="2622941"/>
            <a:ext cx="15186484" cy="6851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8101339" y="2665099"/>
            <a:ext cx="9131586" cy="4124744"/>
          </a:xfrm>
          <a:custGeom>
            <a:avLst/>
            <a:gdLst/>
            <a:ahLst/>
            <a:cxnLst/>
            <a:rect l="l" t="t" r="r" b="b"/>
            <a:pathLst>
              <a:path w="9131586" h="4124744">
                <a:moveTo>
                  <a:pt x="0" y="0"/>
                </a:moveTo>
                <a:lnTo>
                  <a:pt x="9131586" y="0"/>
                </a:lnTo>
                <a:lnTo>
                  <a:pt x="9131586" y="4124744"/>
                </a:lnTo>
                <a:lnTo>
                  <a:pt x="0" y="4124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240357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SHADOWMAPPING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621211"/>
            <a:ext cx="6543798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main idea is to determine which points in the scene are visible from the light source and which are hidden by other objects.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232047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WHAT IS IT?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981596"/>
            <a:ext cx="15368404" cy="386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rendering process occurs in two steps:</a:t>
            </a:r>
          </a:p>
          <a:p>
            <a:pPr algn="just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First rendering (from the light's perspective):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We take a picture of the scene from the light source's perspective. The </a:t>
            </a:r>
            <a:r>
              <a:rPr lang="en-US" sz="1999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distances of the visible objects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from the light are stored in a Depth Shadow Map (depth texture) using a </a:t>
            </a:r>
            <a:r>
              <a:rPr lang="en-US" sz="1999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Frame Buffer Object (FBO)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just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Second rendering (from the camera's perspective):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scene is rendered normally. For each visible point in the scene, its </a:t>
            </a:r>
            <a:r>
              <a:rPr lang="en-US" sz="1999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from the light is compared to the value stored in the Shadow Map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 If it is further away than the value recorded in the map texel, it means it is hidden by another object and is therefore in shadow.</a:t>
            </a:r>
          </a:p>
          <a:p>
            <a:pPr algn="just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3769488" y="2590667"/>
            <a:ext cx="11091782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SHADOWMAPPING </a:t>
            </a: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TECHNIQUES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5736" y="5331404"/>
            <a:ext cx="5124699" cy="386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Performs a direct comparison between the fragment's depth and the depth stored in the shadow map texel.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Returns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0 or 1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depending on whether my fragment is in shadow or not.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Shadows generated with this technique have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jagged edges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and suffer from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shadow acne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0866" y="4222236"/>
            <a:ext cx="5740914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BASIC</a:t>
            </a:r>
          </a:p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TRADITIONAL SHADOW MAPPING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19195" y="4222236"/>
            <a:ext cx="5544521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PCF</a:t>
            </a: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PERCENTAGE CLOSE FILTERING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52147" y="5227334"/>
            <a:ext cx="4557127" cy="315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Stores the first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two depth moments (mean and mean of squares)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in the shadow map.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This information is used during rendering to probabilistically estimate the presence of shadow in a fragment, using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mean and variance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181130" y="4222236"/>
            <a:ext cx="5075238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VSM</a:t>
            </a:r>
          </a:p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A067AE"/>
                </a:solidFill>
                <a:latin typeface="DM Sans Bold"/>
                <a:ea typeface="DM Sans Bold"/>
                <a:cs typeface="DM Sans Bold"/>
                <a:sym typeface="DM Sans Bold"/>
              </a:rPr>
              <a:t>VARIANT SHADOW MAPPING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81313" y="5331404"/>
            <a:ext cx="4868132" cy="421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performs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multiple shadow map samplings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around the texel corresponding to the fragment.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depth comparison is performed for each sample and the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average 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of the results is returned.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shadows generated with this technique are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softer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but it is </a:t>
            </a:r>
            <a:r>
              <a:rPr lang="en-US" sz="19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more expensive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than the basic technique.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40357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BASIC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750705"/>
            <a:ext cx="7311873" cy="429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Let's take a closer look at how the shadow mapping shaders are coded.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Since there are two rendering passes, automatically four shaders are needed: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Vertex and Fragment Shaders from the 1° rendering,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Vertex and Fragment Shaders from the 2° rendering.</a:t>
            </a:r>
          </a:p>
          <a:p>
            <a:pPr algn="just">
              <a:lnSpc>
                <a:spcPts val="2799"/>
              </a:lnSpc>
            </a:pPr>
            <a:endParaRPr lang="en-US" sz="1999" b="1" dirty="0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Shown here are the Vertex Shader and Fragment Shader from the 1° rendering, where the depth map is created.</a:t>
            </a:r>
          </a:p>
          <a:p>
            <a:pPr algn="l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5075" y="329338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SHADOW MAPPING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632334B-EF79-F386-8443-419D2624D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7764" y="2163907"/>
            <a:ext cx="6580614" cy="2367416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53A99BFE-084E-B7DE-B76E-5641BB93F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600" y="4750705"/>
            <a:ext cx="5184894" cy="5136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53600" y="3608750"/>
            <a:ext cx="7238530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it-IT" sz="2000" dirty="0">
                <a:latin typeface="DM Sans" pitchFamily="2" charset="0"/>
              </a:rPr>
              <a:t>Here </a:t>
            </a:r>
            <a:r>
              <a:rPr lang="it-IT" sz="2000" dirty="0" err="1">
                <a:latin typeface="DM Sans" pitchFamily="2" charset="0"/>
              </a:rPr>
              <a:t>we</a:t>
            </a:r>
            <a:r>
              <a:rPr lang="it-IT" sz="2000" dirty="0">
                <a:latin typeface="DM Sans" pitchFamily="2" charset="0"/>
              </a:rPr>
              <a:t> can </a:t>
            </a:r>
            <a:r>
              <a:rPr lang="it-IT" sz="2000" dirty="0" err="1">
                <a:latin typeface="DM Sans" pitchFamily="2" charset="0"/>
              </a:rPr>
              <a:t>see</a:t>
            </a:r>
            <a:r>
              <a:rPr lang="it-IT" sz="2000" dirty="0">
                <a:latin typeface="DM Sans" pitchFamily="2" charset="0"/>
              </a:rPr>
              <a:t> the vertex shader </a:t>
            </a:r>
            <a:r>
              <a:rPr lang="it-IT" sz="2000" dirty="0" err="1">
                <a:latin typeface="DM Sans" pitchFamily="2" charset="0"/>
              </a:rPr>
              <a:t>used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during</a:t>
            </a:r>
            <a:r>
              <a:rPr lang="it-IT" sz="2000" dirty="0">
                <a:latin typeface="DM Sans" pitchFamily="2" charset="0"/>
              </a:rPr>
              <a:t> the 2° rendering pass.</a:t>
            </a:r>
          </a:p>
          <a:p>
            <a:endParaRPr lang="it-IT" sz="2000" dirty="0">
              <a:latin typeface="DM Sans" pitchFamily="2" charset="0"/>
            </a:endParaRPr>
          </a:p>
          <a:p>
            <a:r>
              <a:rPr lang="it-IT" sz="2000" dirty="0" err="1">
                <a:latin typeface="DM Sans" pitchFamily="2" charset="0"/>
              </a:rPr>
              <a:t>Since</a:t>
            </a:r>
            <a:r>
              <a:rPr lang="it-IT" sz="2000" dirty="0">
                <a:latin typeface="DM Sans" pitchFamily="2" charset="0"/>
              </a:rPr>
              <a:t> the scene </a:t>
            </a:r>
            <a:r>
              <a:rPr lang="it-IT" sz="2000" dirty="0" err="1">
                <a:latin typeface="DM Sans" pitchFamily="2" charset="0"/>
              </a:rPr>
              <a:t>uses</a:t>
            </a:r>
            <a:r>
              <a:rPr lang="it-IT" sz="2000" dirty="0">
                <a:latin typeface="DM Sans" pitchFamily="2" charset="0"/>
              </a:rPr>
              <a:t> a model </a:t>
            </a:r>
            <a:r>
              <a:rPr lang="it-IT" sz="2000" dirty="0" err="1">
                <a:latin typeface="DM Sans" pitchFamily="2" charset="0"/>
              </a:rPr>
              <a:t>created</a:t>
            </a:r>
            <a:r>
              <a:rPr lang="it-IT" sz="2000" dirty="0">
                <a:latin typeface="DM Sans" pitchFamily="2" charset="0"/>
              </a:rPr>
              <a:t> by </a:t>
            </a:r>
            <a:r>
              <a:rPr lang="it-IT" sz="2000" dirty="0" err="1">
                <a:latin typeface="DM Sans" pitchFamily="2" charset="0"/>
              </a:rPr>
              <a:t>another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author</a:t>
            </a:r>
            <a:r>
              <a:rPr lang="it-IT" sz="2000" dirty="0">
                <a:latin typeface="DM Sans" pitchFamily="2" charset="0"/>
              </a:rPr>
              <a:t>, </a:t>
            </a:r>
            <a:r>
              <a:rPr lang="it-IT" sz="2000" dirty="0" err="1">
                <a:latin typeface="DM Sans" pitchFamily="2" charset="0"/>
              </a:rPr>
              <a:t>its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original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Material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is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preserved</a:t>
            </a:r>
            <a:r>
              <a:rPr lang="it-IT" sz="2000" dirty="0">
                <a:latin typeface="DM Sans" pitchFamily="2" charset="0"/>
              </a:rPr>
              <a:t>.</a:t>
            </a:r>
          </a:p>
          <a:p>
            <a:endParaRPr lang="it-IT" sz="2000" dirty="0">
              <a:latin typeface="DM Sans" pitchFamily="2" charset="0"/>
            </a:endParaRPr>
          </a:p>
          <a:p>
            <a:r>
              <a:rPr lang="it-IT" sz="2000" dirty="0">
                <a:latin typeface="DM Sans" pitchFamily="2" charset="0"/>
              </a:rPr>
              <a:t>I </a:t>
            </a:r>
            <a:r>
              <a:rPr lang="it-IT" sz="2000" dirty="0" err="1">
                <a:latin typeface="DM Sans" pitchFamily="2" charset="0"/>
              </a:rPr>
              <a:t>extend</a:t>
            </a:r>
            <a:r>
              <a:rPr lang="it-IT" sz="2000" dirty="0">
                <a:latin typeface="DM Sans" pitchFamily="2" charset="0"/>
              </a:rPr>
              <a:t> the </a:t>
            </a:r>
            <a:r>
              <a:rPr lang="it-IT" sz="2000" dirty="0" err="1">
                <a:latin typeface="DM Sans" pitchFamily="2" charset="0"/>
              </a:rPr>
              <a:t>original</a:t>
            </a:r>
            <a:r>
              <a:rPr lang="it-IT" sz="2000" dirty="0">
                <a:latin typeface="DM Sans" pitchFamily="2" charset="0"/>
              </a:rPr>
              <a:t> vertex and </a:t>
            </a:r>
            <a:r>
              <a:rPr lang="it-IT" sz="2000" dirty="0" err="1">
                <a:latin typeface="DM Sans" pitchFamily="2" charset="0"/>
              </a:rPr>
              <a:t>fragment</a:t>
            </a:r>
            <a:r>
              <a:rPr lang="it-IT" sz="2000" dirty="0">
                <a:latin typeface="DM Sans" pitchFamily="2" charset="0"/>
              </a:rPr>
              <a:t> shaders </a:t>
            </a:r>
            <a:r>
              <a:rPr lang="it-IT" sz="2000" dirty="0" err="1">
                <a:latin typeface="DM Sans" pitchFamily="2" charset="0"/>
              </a:rPr>
              <a:t>using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b="1" dirty="0" err="1">
                <a:latin typeface="DM Sans" pitchFamily="2" charset="0"/>
              </a:rPr>
              <a:t>onBeforeCompile</a:t>
            </a:r>
            <a:r>
              <a:rPr lang="it-IT" sz="2000" dirty="0">
                <a:latin typeface="DM Sans" pitchFamily="2" charset="0"/>
              </a:rPr>
              <a:t>, a Three.js </a:t>
            </a:r>
            <a:r>
              <a:rPr lang="it-IT" sz="2000" dirty="0" err="1">
                <a:latin typeface="DM Sans" pitchFamily="2" charset="0"/>
              </a:rPr>
              <a:t>callback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that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is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executed</a:t>
            </a:r>
            <a:r>
              <a:rPr lang="it-IT" sz="2000" dirty="0">
                <a:latin typeface="DM Sans" pitchFamily="2" charset="0"/>
              </a:rPr>
              <a:t> just </a:t>
            </a:r>
            <a:r>
              <a:rPr lang="it-IT" sz="2000" dirty="0" err="1">
                <a:latin typeface="DM Sans" pitchFamily="2" charset="0"/>
              </a:rPr>
              <a:t>before</a:t>
            </a:r>
            <a:r>
              <a:rPr lang="it-IT" sz="2000" dirty="0">
                <a:latin typeface="DM Sans" pitchFamily="2" charset="0"/>
              </a:rPr>
              <a:t> the shader </a:t>
            </a:r>
            <a:r>
              <a:rPr lang="it-IT" sz="2000" dirty="0" err="1">
                <a:latin typeface="DM Sans" pitchFamily="2" charset="0"/>
              </a:rPr>
              <a:t>program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is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compiled</a:t>
            </a:r>
            <a:r>
              <a:rPr lang="it-IT" sz="2000" dirty="0">
                <a:latin typeface="DM Sans" pitchFamily="2" charset="0"/>
              </a:rPr>
              <a:t>. </a:t>
            </a:r>
          </a:p>
          <a:p>
            <a:endParaRPr lang="it-IT" sz="2000" dirty="0">
              <a:latin typeface="DM Sans" pitchFamily="2" charset="0"/>
            </a:endParaRPr>
          </a:p>
          <a:p>
            <a:r>
              <a:rPr lang="it-IT" sz="2000" dirty="0" err="1">
                <a:latin typeface="DM Sans" pitchFamily="2" charset="0"/>
              </a:rPr>
              <a:t>This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allows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b="1" dirty="0">
                <a:latin typeface="DM Sans" pitchFamily="2" charset="0"/>
              </a:rPr>
              <a:t>custom code </a:t>
            </a:r>
            <a:r>
              <a:rPr lang="it-IT" sz="2000" dirty="0">
                <a:latin typeface="DM Sans" pitchFamily="2" charset="0"/>
              </a:rPr>
              <a:t>to be </a:t>
            </a:r>
            <a:r>
              <a:rPr lang="it-IT" sz="2000" dirty="0" err="1">
                <a:latin typeface="DM Sans" pitchFamily="2" charset="0"/>
              </a:rPr>
              <a:t>injected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into</a:t>
            </a:r>
            <a:r>
              <a:rPr lang="it-IT" sz="2000" dirty="0">
                <a:latin typeface="DM Sans" pitchFamily="2" charset="0"/>
              </a:rPr>
              <a:t> the </a:t>
            </a:r>
            <a:r>
              <a:rPr lang="it-IT" sz="2000" dirty="0" err="1">
                <a:latin typeface="DM Sans" pitchFamily="2" charset="0"/>
              </a:rPr>
              <a:t>material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original</a:t>
            </a:r>
            <a:r>
              <a:rPr lang="it-IT" sz="2000" dirty="0">
                <a:latin typeface="DM Sans" pitchFamily="2" charset="0"/>
              </a:rPr>
              <a:t> shaders.</a:t>
            </a:r>
          </a:p>
          <a:p>
            <a:endParaRPr lang="it-IT" sz="2000" dirty="0">
              <a:latin typeface="DM Sans" pitchFamily="2" charset="0"/>
            </a:endParaRPr>
          </a:p>
          <a:p>
            <a:r>
              <a:rPr lang="it-IT" sz="2000" dirty="0" err="1">
                <a:latin typeface="DM Sans" pitchFamily="2" charset="0"/>
              </a:rPr>
              <a:t>This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approach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preserves</a:t>
            </a:r>
            <a:r>
              <a:rPr lang="it-IT" sz="2000" dirty="0">
                <a:latin typeface="DM Sans" pitchFamily="2" charset="0"/>
              </a:rPr>
              <a:t> Three.js' </a:t>
            </a:r>
            <a:r>
              <a:rPr lang="it-IT" sz="2000" dirty="0" err="1">
                <a:latin typeface="DM Sans" pitchFamily="2" charset="0"/>
              </a:rPr>
              <a:t>Physically</a:t>
            </a:r>
            <a:r>
              <a:rPr lang="it-IT" sz="2000" dirty="0">
                <a:latin typeface="DM Sans" pitchFamily="2" charset="0"/>
              </a:rPr>
              <a:t> Based Rendering (PBR) pipeline </a:t>
            </a:r>
            <a:r>
              <a:rPr lang="it-IT" sz="2000" dirty="0" err="1">
                <a:latin typeface="DM Sans" pitchFamily="2" charset="0"/>
              </a:rPr>
              <a:t>while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adding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only</a:t>
            </a:r>
            <a:r>
              <a:rPr lang="it-IT" sz="2000" dirty="0">
                <a:latin typeface="DM Sans" pitchFamily="2" charset="0"/>
              </a:rPr>
              <a:t> the </a:t>
            </a:r>
            <a:r>
              <a:rPr lang="it-IT" sz="2000" dirty="0" err="1">
                <a:latin typeface="DM Sans" pitchFamily="2" charset="0"/>
              </a:rPr>
              <a:t>computations</a:t>
            </a:r>
            <a:r>
              <a:rPr lang="it-IT" sz="2000" dirty="0">
                <a:latin typeface="DM Sans" pitchFamily="2" charset="0"/>
              </a:rPr>
              <a:t> </a:t>
            </a:r>
            <a:r>
              <a:rPr lang="it-IT" sz="2000" dirty="0" err="1">
                <a:latin typeface="DM Sans" pitchFamily="2" charset="0"/>
              </a:rPr>
              <a:t>required</a:t>
            </a:r>
            <a:r>
              <a:rPr lang="it-IT" sz="2000" dirty="0">
                <a:latin typeface="DM Sans" pitchFamily="2" charset="0"/>
              </a:rPr>
              <a:t> for custom </a:t>
            </a:r>
            <a:r>
              <a:rPr lang="it-IT" sz="2000" dirty="0" err="1">
                <a:latin typeface="DM Sans" pitchFamily="2" charset="0"/>
              </a:rPr>
              <a:t>shadow</a:t>
            </a:r>
            <a:r>
              <a:rPr lang="it-IT" sz="2000" dirty="0">
                <a:latin typeface="DM Sans" pitchFamily="2" charset="0"/>
              </a:rPr>
              <a:t> mapping.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C573DB7-D1A8-9DD8-F977-550B819F2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29" y="3619500"/>
            <a:ext cx="8107843" cy="52214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55075" y="2985939"/>
            <a:ext cx="747681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Here is the Fragment Shader from the 2° render.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2449" y="5885432"/>
            <a:ext cx="8157085" cy="321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fragment's position relative to the light is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normalized (divided by w)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obtaining Normalized Device Coordinates (NDC).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These are then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converted 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from the range [-1,1] to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[0,1]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to access the shadow map and compare depths.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We then check what type of shadow mapping we are implementing and call the relative shader function.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95381CA8-D2C7-C684-3D14-C168D2020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609" y="3619500"/>
            <a:ext cx="8713056" cy="194694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256B6224-4686-4A2F-B9B5-43522FC19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1999" y="2857500"/>
            <a:ext cx="5881714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1697569" y="4957687"/>
            <a:ext cx="5402375" cy="1768919"/>
          </a:xfrm>
          <a:custGeom>
            <a:avLst/>
            <a:gdLst/>
            <a:ahLst/>
            <a:cxnLst/>
            <a:rect l="l" t="t" r="r" b="b"/>
            <a:pathLst>
              <a:path w="5402375" h="1768919">
                <a:moveTo>
                  <a:pt x="0" y="0"/>
                </a:moveTo>
                <a:lnTo>
                  <a:pt x="5402375" y="0"/>
                </a:lnTo>
                <a:lnTo>
                  <a:pt x="5402375" y="1768919"/>
                </a:lnTo>
                <a:lnTo>
                  <a:pt x="0" y="1768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1702958" y="7081301"/>
            <a:ext cx="5396986" cy="1590080"/>
          </a:xfrm>
          <a:custGeom>
            <a:avLst/>
            <a:gdLst/>
            <a:ahLst/>
            <a:cxnLst/>
            <a:rect l="l" t="t" r="r" b="b"/>
            <a:pathLst>
              <a:path w="5396986" h="1590080">
                <a:moveTo>
                  <a:pt x="0" y="0"/>
                </a:moveTo>
                <a:lnTo>
                  <a:pt x="5396986" y="0"/>
                </a:lnTo>
                <a:lnTo>
                  <a:pt x="5396986" y="1590080"/>
                </a:lnTo>
                <a:lnTo>
                  <a:pt x="0" y="1590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2698846"/>
            <a:ext cx="7099014" cy="1804209"/>
            <a:chOff x="0" y="0"/>
            <a:chExt cx="9465351" cy="240561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95275"/>
              <a:ext cx="9430185" cy="1514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6000" b="1">
                  <a:solidFill>
                    <a:srgbClr val="343434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SHADOW ACNE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167" y="891138"/>
              <a:ext cx="9430185" cy="1514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6000">
                  <a:solidFill>
                    <a:srgbClr val="343434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&amp; BIAS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4516575"/>
            <a:ext cx="9451898" cy="562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One of the major problems with the basic shadow mapping technique, aside from the jagged rendering of shadows, is the so-called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shadow acne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phenomenon.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Shadow acne is an artifact caused by errors in depth comparisons, caused by the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limited resolution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of the shadow map, which causes multiple fragments to be compared to the same texel, and by the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angle of the light.</a:t>
            </a:r>
          </a:p>
          <a:p>
            <a:pPr algn="just">
              <a:lnSpc>
                <a:spcPts val="2799"/>
              </a:lnSpc>
            </a:pPr>
            <a:endParaRPr lang="en-US" sz="1999" b="1" dirty="0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One solution to this problem is to introduce a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bias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a small tolerance in the depth comparison, to prevent illuminated fragments from being incorrectly classified as shadowed.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Excessive bias, however, can cause the phenomenon of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Peter Panning,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in which shadows appear visibly separated from the objects that cast them.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8342984" y="3838069"/>
            <a:ext cx="6963384" cy="4917654"/>
          </a:xfrm>
          <a:custGeom>
            <a:avLst/>
            <a:gdLst/>
            <a:ahLst/>
            <a:cxnLst/>
            <a:rect l="l" t="t" r="r" b="b"/>
            <a:pathLst>
              <a:path w="10918617" h="4917654">
                <a:moveTo>
                  <a:pt x="0" y="0"/>
                </a:moveTo>
                <a:lnTo>
                  <a:pt x="10918616" y="0"/>
                </a:lnTo>
                <a:lnTo>
                  <a:pt x="10918616" y="4917654"/>
                </a:lnTo>
                <a:lnTo>
                  <a:pt x="0" y="4917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297" r="-3250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8557" y="2509423"/>
            <a:ext cx="17744335" cy="227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EXAMPLE OF SHADOW ACNE AND JAGGED SHADOWS</a:t>
            </a:r>
          </a:p>
        </p:txBody>
      </p:sp>
      <p:sp>
        <p:nvSpPr>
          <p:cNvPr id="9" name="Freeform 9"/>
          <p:cNvSpPr/>
          <p:nvPr/>
        </p:nvSpPr>
        <p:spPr>
          <a:xfrm>
            <a:off x="2137568" y="4845715"/>
            <a:ext cx="4996983" cy="3969825"/>
          </a:xfrm>
          <a:custGeom>
            <a:avLst/>
            <a:gdLst/>
            <a:ahLst/>
            <a:cxnLst/>
            <a:rect l="l" t="t" r="r" b="b"/>
            <a:pathLst>
              <a:path w="4996983" h="3969825">
                <a:moveTo>
                  <a:pt x="0" y="0"/>
                </a:moveTo>
                <a:lnTo>
                  <a:pt x="4996983" y="0"/>
                </a:lnTo>
                <a:lnTo>
                  <a:pt x="4996983" y="3969825"/>
                </a:lnTo>
                <a:lnTo>
                  <a:pt x="0" y="396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40357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PCF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5075" y="329338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SHADOW MAPPING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0327" y="4503055"/>
            <a:ext cx="7476814" cy="46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An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extension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of Basic Shadow Mapping.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Instead of performing a single comparison between the depth of the fragment and a texel of the shadow map,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multiple adjacent texels are sampled (3×3 grid)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 The depth test is performed for each sample, and the results are then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averaged 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to obtain the final shadow value.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This approach produces softer, more realistic shadows, but introduces a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higher computational cost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which further increases as the grid size increases.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D195347-2685-A7F7-FAFA-0B3BB8FF5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009900"/>
            <a:ext cx="7671602" cy="54596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435399" y="4900142"/>
            <a:ext cx="6747400" cy="3801749"/>
          </a:xfrm>
          <a:custGeom>
            <a:avLst/>
            <a:gdLst/>
            <a:ahLst/>
            <a:cxnLst/>
            <a:rect l="l" t="t" r="r" b="b"/>
            <a:pathLst>
              <a:path w="6747400" h="3801749">
                <a:moveTo>
                  <a:pt x="0" y="0"/>
                </a:moveTo>
                <a:lnTo>
                  <a:pt x="6747400" y="0"/>
                </a:lnTo>
                <a:lnTo>
                  <a:pt x="6747400" y="3801749"/>
                </a:lnTo>
                <a:lnTo>
                  <a:pt x="0" y="3801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028700" y="2403571"/>
            <a:ext cx="16402793" cy="227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VISUAL EXAMPLE OF PCF AND BASIC SHADOW MAPPING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1811" y="8898598"/>
            <a:ext cx="1143242" cy="32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2000" spc="-11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BASIC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73000" y="8898598"/>
            <a:ext cx="756929" cy="32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2000" spc="-11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PCF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3BC89CE1-C182-F6F8-CB80-20E63C9D5C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208" t="21010" r="15617" b="13748"/>
          <a:stretch>
            <a:fillRect/>
          </a:stretch>
        </p:blipFill>
        <p:spPr>
          <a:xfrm>
            <a:off x="9601200" y="4848250"/>
            <a:ext cx="6554389" cy="38884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2325974" y="3613245"/>
            <a:ext cx="5253638" cy="2106657"/>
          </a:xfrm>
          <a:custGeom>
            <a:avLst/>
            <a:gdLst/>
            <a:ahLst/>
            <a:cxnLst/>
            <a:rect l="l" t="t" r="r" b="b"/>
            <a:pathLst>
              <a:path w="5253638" h="2106657">
                <a:moveTo>
                  <a:pt x="0" y="0"/>
                </a:moveTo>
                <a:lnTo>
                  <a:pt x="5253637" y="0"/>
                </a:lnTo>
                <a:lnTo>
                  <a:pt x="5253637" y="2106657"/>
                </a:lnTo>
                <a:lnTo>
                  <a:pt x="0" y="210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325974" y="6039315"/>
            <a:ext cx="5253638" cy="1065596"/>
          </a:xfrm>
          <a:custGeom>
            <a:avLst/>
            <a:gdLst/>
            <a:ahLst/>
            <a:cxnLst/>
            <a:rect l="l" t="t" r="r" b="b"/>
            <a:pathLst>
              <a:path w="5253638" h="1065596">
                <a:moveTo>
                  <a:pt x="0" y="0"/>
                </a:moveTo>
                <a:lnTo>
                  <a:pt x="5253637" y="0"/>
                </a:lnTo>
                <a:lnTo>
                  <a:pt x="5253637" y="1065596"/>
                </a:lnTo>
                <a:lnTo>
                  <a:pt x="0" y="10655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2325974" y="7424325"/>
            <a:ext cx="5253638" cy="1097775"/>
          </a:xfrm>
          <a:custGeom>
            <a:avLst/>
            <a:gdLst/>
            <a:ahLst/>
            <a:cxnLst/>
            <a:rect l="l" t="t" r="r" b="b"/>
            <a:pathLst>
              <a:path w="5253638" h="1097775">
                <a:moveTo>
                  <a:pt x="0" y="0"/>
                </a:moveTo>
                <a:lnTo>
                  <a:pt x="5253637" y="0"/>
                </a:lnTo>
                <a:lnTo>
                  <a:pt x="5253637" y="1097775"/>
                </a:lnTo>
                <a:lnTo>
                  <a:pt x="0" y="109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028700" y="240357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VSM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771900"/>
            <a:ext cx="10516920" cy="6087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Unlike Basic Shadow Mapping and PCF, this technique does not store only depth values in the shadow map.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For each texel, the first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two moments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of depth are stored: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Mean depth: E[x]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Mean squared depth: E[x²]</a:t>
            </a:r>
          </a:p>
          <a:p>
            <a:pPr algn="just">
              <a:lnSpc>
                <a:spcPts val="2799"/>
              </a:lnSpc>
            </a:pPr>
            <a:endParaRPr lang="en-US" sz="1999" b="1" dirty="0">
              <a:solidFill>
                <a:srgbClr val="343434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During rendering, these values are used to compute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variance 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and estimate shadowing using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Chebyshev’s inequality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This approach introduces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additional computational overhead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due to variance evaluation but the results are very satisfying.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known limitation is </a:t>
            </a:r>
            <a:r>
              <a:rPr lang="en-US" sz="1999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light bleeding</a:t>
            </a: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where light incorrectly leaks into areas that should be fully in shadow.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71800" y="2403571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SHADOW MAPPING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6800" y="2689321"/>
            <a:ext cx="14153987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VSM SHADER AND VISUAL EXAMPLE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16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BAE9553-8DD9-A883-F1A6-1F3F4052A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650" y="3898995"/>
            <a:ext cx="8535140" cy="490008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725FFD0-9A07-E071-F540-122CF9B1C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860895"/>
            <a:ext cx="5507551" cy="59799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403571"/>
            <a:ext cx="1168986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SHADOWMAPPING TECHNIQUES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5075" y="4605410"/>
            <a:ext cx="14902817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Basic Shadow Mapping is fast but produces aliased shadows. PCF provides a balanced trade-off between performance and quality. VSM delivers the best visual quality but at a higher computational cost.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5075" y="3293381"/>
            <a:ext cx="8699435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COMPARISON OVERVIEW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10B150BB-9C24-6E45-3B7F-661208392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201028"/>
              </p:ext>
            </p:extLst>
          </p:nvPr>
        </p:nvGraphicFramePr>
        <p:xfrm>
          <a:off x="2762249" y="5806789"/>
          <a:ext cx="12763500" cy="269423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940867195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12126055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61647279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1336938307"/>
                    </a:ext>
                  </a:extLst>
                </a:gridCol>
              </a:tblGrid>
              <a:tr h="705934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81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PROS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81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CONS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81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FPS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81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997306"/>
                  </a:ext>
                </a:extLst>
              </a:tr>
              <a:tr h="647603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i="0" dirty="0">
                          <a:effectLst/>
                        </a:rPr>
                        <a:t>Very light to compute</a:t>
                      </a:r>
                      <a:endParaRPr lang="it-IT" sz="2000" dirty="0"/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i="0" dirty="0" err="1">
                          <a:effectLst/>
                        </a:rPr>
                        <a:t>Jagged</a:t>
                      </a:r>
                      <a:r>
                        <a:rPr lang="it-IT" sz="2000" b="0" i="0" dirty="0">
                          <a:effectLst/>
                        </a:rPr>
                        <a:t> </a:t>
                      </a:r>
                      <a:r>
                        <a:rPr lang="it-IT" sz="2000" b="0" i="0" dirty="0" err="1">
                          <a:effectLst/>
                        </a:rPr>
                        <a:t>edges</a:t>
                      </a:r>
                      <a:r>
                        <a:rPr lang="it-IT" sz="2000" b="0" i="0" dirty="0">
                          <a:effectLst/>
                        </a:rPr>
                        <a:t>, </a:t>
                      </a:r>
                      <a:r>
                        <a:rPr lang="it-IT" sz="2000" b="0" i="0" dirty="0" err="1">
                          <a:effectLst/>
                        </a:rPr>
                        <a:t>shadow</a:t>
                      </a:r>
                      <a:r>
                        <a:rPr lang="it-IT" sz="2000" b="0" i="0" dirty="0">
                          <a:effectLst/>
                        </a:rPr>
                        <a:t> acne</a:t>
                      </a:r>
                      <a:endParaRPr lang="it-IT" sz="2000" dirty="0"/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592426"/>
                  </a:ext>
                </a:extLst>
              </a:tr>
              <a:tr h="634767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PCF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Smooth </a:t>
                      </a:r>
                      <a:r>
                        <a:rPr lang="it-IT" sz="2000" dirty="0" err="1"/>
                        <a:t>shadows</a:t>
                      </a:r>
                      <a:endParaRPr lang="it-IT" sz="2000" dirty="0"/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i="0" dirty="0">
                          <a:effectLst/>
                        </a:rPr>
                        <a:t>Medium cost</a:t>
                      </a:r>
                      <a:endParaRPr lang="it-IT" sz="2000" dirty="0"/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44-55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00870"/>
                  </a:ext>
                </a:extLst>
              </a:tr>
              <a:tr h="705934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VSM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Very </a:t>
                      </a:r>
                      <a:r>
                        <a:rPr lang="it-IT" sz="2000" dirty="0" err="1"/>
                        <a:t>smooth</a:t>
                      </a:r>
                      <a:r>
                        <a:rPr lang="it-IT" sz="2000" dirty="0"/>
                        <a:t> </a:t>
                      </a:r>
                      <a:r>
                        <a:rPr lang="it-IT" sz="2000" dirty="0" err="1"/>
                        <a:t>shadows</a:t>
                      </a:r>
                      <a:endParaRPr lang="it-IT" sz="2000" dirty="0"/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0" i="0" dirty="0">
                          <a:effectLst/>
                        </a:rPr>
                        <a:t>Light </a:t>
                      </a:r>
                      <a:r>
                        <a:rPr lang="it-IT" sz="2000" b="0" i="0" dirty="0" err="1">
                          <a:effectLst/>
                        </a:rPr>
                        <a:t>bleeding</a:t>
                      </a:r>
                      <a:r>
                        <a:rPr lang="it-IT" sz="2000" b="0" i="0" dirty="0">
                          <a:effectLst/>
                        </a:rPr>
                        <a:t>, </a:t>
                      </a:r>
                      <a:r>
                        <a:rPr lang="it-IT" sz="2000" b="0" i="0" dirty="0" err="1">
                          <a:effectLst/>
                        </a:rPr>
                        <a:t>higher</a:t>
                      </a:r>
                      <a:r>
                        <a:rPr lang="it-IT" sz="2000" b="0" i="0" dirty="0">
                          <a:effectLst/>
                        </a:rPr>
                        <a:t> cost</a:t>
                      </a:r>
                      <a:endParaRPr lang="it-IT" sz="2000" dirty="0"/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35-38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5604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668867" y="4747484"/>
            <a:ext cx="4996983" cy="3969825"/>
          </a:xfrm>
          <a:custGeom>
            <a:avLst/>
            <a:gdLst/>
            <a:ahLst/>
            <a:cxnLst/>
            <a:rect l="l" t="t" r="r" b="b"/>
            <a:pathLst>
              <a:path w="4996983" h="3969825">
                <a:moveTo>
                  <a:pt x="0" y="0"/>
                </a:moveTo>
                <a:lnTo>
                  <a:pt x="4996983" y="0"/>
                </a:lnTo>
                <a:lnTo>
                  <a:pt x="4996983" y="3969825"/>
                </a:lnTo>
                <a:lnTo>
                  <a:pt x="0" y="396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028700" y="2403571"/>
            <a:ext cx="1168986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SHADOWMAPPING TECHNIQUES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5075" y="3293381"/>
            <a:ext cx="8699435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COMPARISON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60083" y="8991600"/>
            <a:ext cx="689389" cy="32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2000" spc="-11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BASIC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6800" y="8991600"/>
            <a:ext cx="637223" cy="32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2000" spc="-11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PCF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7115" y="8991600"/>
            <a:ext cx="689389" cy="32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2000" spc="-110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VSM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95F91F5-E104-2DAB-C17F-CCF346EC1B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409" t="18247" r="8446" b="4627"/>
          <a:stretch>
            <a:fillRect/>
          </a:stretch>
        </p:blipFill>
        <p:spPr>
          <a:xfrm>
            <a:off x="11629524" y="4733965"/>
            <a:ext cx="4303727" cy="3939568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B80A8CA6-EB1C-FEDD-D0E9-6EB5F92D68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6528"/>
          <a:stretch>
            <a:fillRect/>
          </a:stretch>
        </p:blipFill>
        <p:spPr>
          <a:xfrm>
            <a:off x="7039776" y="4761512"/>
            <a:ext cx="4099166" cy="3925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2477045" y="4134733"/>
            <a:ext cx="13333907" cy="387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sz="19362" b="1" dirty="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1354446">
            <a:off x="15843106" y="2606653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885027">
            <a:off x="4949172" y="2378929"/>
            <a:ext cx="2206219" cy="1740908"/>
          </a:xfrm>
          <a:custGeom>
            <a:avLst/>
            <a:gdLst/>
            <a:ahLst/>
            <a:cxnLst/>
            <a:rect l="l" t="t" r="r" b="b"/>
            <a:pathLst>
              <a:path w="2206219" h="1740908">
                <a:moveTo>
                  <a:pt x="0" y="0"/>
                </a:moveTo>
                <a:lnTo>
                  <a:pt x="2206220" y="0"/>
                </a:lnTo>
                <a:lnTo>
                  <a:pt x="2206220" y="1740907"/>
                </a:lnTo>
                <a:lnTo>
                  <a:pt x="0" y="1740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352249" y="7765756"/>
            <a:ext cx="4202073" cy="2521244"/>
          </a:xfrm>
          <a:custGeom>
            <a:avLst/>
            <a:gdLst/>
            <a:ahLst/>
            <a:cxnLst/>
            <a:rect l="l" t="t" r="r" b="b"/>
            <a:pathLst>
              <a:path w="4202073" h="2521244">
                <a:moveTo>
                  <a:pt x="0" y="0"/>
                </a:moveTo>
                <a:lnTo>
                  <a:pt x="4202073" y="0"/>
                </a:lnTo>
                <a:lnTo>
                  <a:pt x="4202073" y="2521244"/>
                </a:lnTo>
                <a:lnTo>
                  <a:pt x="0" y="2521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 rot="839221">
            <a:off x="10407311" y="7434240"/>
            <a:ext cx="1170380" cy="2030628"/>
          </a:xfrm>
          <a:custGeom>
            <a:avLst/>
            <a:gdLst/>
            <a:ahLst/>
            <a:cxnLst/>
            <a:rect l="l" t="t" r="r" b="b"/>
            <a:pathLst>
              <a:path w="1170380" h="2030628">
                <a:moveTo>
                  <a:pt x="0" y="0"/>
                </a:moveTo>
                <a:lnTo>
                  <a:pt x="1170380" y="0"/>
                </a:lnTo>
                <a:lnTo>
                  <a:pt x="1170380" y="2030629"/>
                </a:lnTo>
                <a:lnTo>
                  <a:pt x="0" y="2030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660866" y="681156"/>
            <a:ext cx="16918745" cy="1735265"/>
            <a:chOff x="0" y="0"/>
            <a:chExt cx="22558327" cy="23136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00259" cy="2313687"/>
            </a:xfrm>
            <a:custGeom>
              <a:avLst/>
              <a:gdLst/>
              <a:ahLst/>
              <a:cxnLst/>
              <a:rect l="l" t="t" r="r" b="b"/>
              <a:pathLst>
                <a:path w="5300259" h="2313687">
                  <a:moveTo>
                    <a:pt x="0" y="0"/>
                  </a:moveTo>
                  <a:lnTo>
                    <a:pt x="5300259" y="0"/>
                  </a:lnTo>
                  <a:lnTo>
                    <a:pt x="5300259" y="2313687"/>
                  </a:lnTo>
                  <a:lnTo>
                    <a:pt x="0" y="2313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363180" y="434817"/>
              <a:ext cx="2195147" cy="959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906"/>
                </a:lnSpc>
                <a:spcBef>
                  <a:spcPct val="0"/>
                </a:spcBef>
              </a:pPr>
              <a:r>
                <a:rPr lang="en-US" sz="2253" spc="-123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MARTINA SCHIRONE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1392</Words>
  <Application>Microsoft Office PowerPoint</Application>
  <PresentationFormat>Personalizzato</PresentationFormat>
  <Paragraphs>197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Calibri</vt:lpstr>
      <vt:lpstr>DM Sans</vt:lpstr>
      <vt:lpstr>Arial</vt:lpstr>
      <vt:lpstr>Cooper Hewitt Bold</vt:lpstr>
      <vt:lpstr>Cooper Hewitt</vt:lpstr>
      <vt:lpstr>DM Sans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</dc:title>
  <cp:lastModifiedBy>Martina Schirone</cp:lastModifiedBy>
  <cp:revision>10</cp:revision>
  <dcterms:created xsi:type="dcterms:W3CDTF">2006-08-16T00:00:00Z</dcterms:created>
  <dcterms:modified xsi:type="dcterms:W3CDTF">2026-07-08T06:59:26Z</dcterms:modified>
  <dc:identifier>DAHM9do95N4</dc:identifier>
</cp:coreProperties>
</file>